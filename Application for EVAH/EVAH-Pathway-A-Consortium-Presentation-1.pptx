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454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EVAH Pathway 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for Underserved Populations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Thailand–Myanmar Corridor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Strategy Presentation — Internal Working Document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1,000,000 | 3–12 months | Deadline: April 1,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32E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4526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Wellcome Trust  ·  Bill &amp; Melinda Gates Foundation  ·  Novo Nordisk Foundation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 Crisis in the Thailand–Myanmar Corridor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4008" cy="1234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16459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Myanmar population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in rural areas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64008" cy="1234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46520" y="16459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Myanmar minimum wage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HBV treatment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64008" cy="1234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286000" y="3108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Helminthic infection 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border refugees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64008" cy="1234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46520" y="3108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Gastroenterologist for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patients/month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Hsu et al. 2024, Mitchell et al. 2018, Telekyanmar operational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CONSORTIUM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25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Mahidol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2560320"/>
            <a:ext cx="1005840" cy="256032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Applicant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06040" y="1097280"/>
            <a:ext cx="192024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258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Telekyanmar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063240" y="2560320"/>
            <a:ext cx="1005840" cy="256032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06324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Myanmar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74320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Partner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~360 Volunteers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Delivery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5488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1097280"/>
            <a:ext cx="192024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3258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IDARA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(IIS Galicia Sur)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212080" y="2560320"/>
            <a:ext cx="1005840" cy="256032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21208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89204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AICOMTA 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Delivery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90372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903720" y="1097280"/>
            <a:ext cx="192024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32588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Goethe Univ.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Frankfurt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360920" y="2560320"/>
            <a:ext cx="1005840" cy="256032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36092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04088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0F202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57200" y="3931920"/>
            <a:ext cx="658368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48640" y="3931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 LMIC (Thailand + Myanmar)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132320" y="3931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≤20% Europe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budget allocations are indicative and subject to change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EVAH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proposal meets funder requirements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EVAH 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AI-enabled CDST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AICOMTA: RAG on Gemini 2.0 Flash (FAQ Q22, Q29)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Eligible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validation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 validation: 4.2/5 quality, 328 conversations (FAQ Q27)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Transferable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LMIC-based lead applicant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Mahidol University, Thailand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Eligible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health care 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clinics + telemedicine (FAQ Q56, Q58)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Eligible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stays with applicant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IDARA retains AICOMTA IP; funder gets license (FAQ Q61–Q66)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Compatible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group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stepped-wedge or matched controls (FAQ Q39)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Action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A → Pathway B progression explicitly encouraged (FAQ Q35)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AICOMTA Validated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05840" y="2468880"/>
            <a:ext cx="146304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 expert quality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 adoption intent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clinical conversations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HCV retrieval: 64.6%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CHART-compliant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5603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2801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Evidence Growing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794760" y="2468880"/>
            <a:ext cx="146304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42900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adds ~10%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standalone LLMs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GPT-4: 68% diagnostic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complex cases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key success factor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05156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35040" y="1051560"/>
            <a:ext cx="25603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801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LMIC Gap = Opportunity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583680" y="2468880"/>
            <a:ext cx="146304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21792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~10 evaluations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real-world LMIC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studies in Myanmar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Thailand border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EVAH fills exactly this gap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WP1: AI CLINICAL SUPPORT ASSISTANT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budget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AICOMTA Deployment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RAG knowledge base for Thailand–Myanmar context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guidelines, hepatitis B/C, GI parasitic infections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Telekyanmar chat workflow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(Burmese, Karen, Kachin)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in-situ + remote volunteer doctors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9319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20-Hour Training Course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50–150 healthcare professionals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1-week intensive + reusable materials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into local languages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Avatar, videos, digital learning environment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assessment → evaluation data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350,000 total  |  Allocations subject to change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WP2: TELEMEDICINE DIGITALIZATION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budget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794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794760" cy="4572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Messenger consultations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medical records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clinic sites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&amp; follow-up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892040" y="1051560"/>
            <a:ext cx="3794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1051560"/>
            <a:ext cx="3794760" cy="4572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051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INTERVENTION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164592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triage + video-conference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records stored in Thailand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connectivity expansion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 workflow optimization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+ asynchronous care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F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principle: Everything must function after Day 366 at minimal cost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WP3: COORDINATION &amp; EVALUATION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budget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5603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Thailand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management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oversight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submission (IRB)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≥80% LMIC budget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051560"/>
            <a:ext cx="25603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344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Myanmar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2900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admin staff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(~USD 100K)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logistics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coordination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0515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26480" y="1051560"/>
            <a:ext cx="25603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2344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 Partners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certification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strategy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50K budget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3152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Governance &amp; Ethics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3152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digitized in Myanmar, stored in Thailand  ·  GDPR-aware framework  ·  Open-access publication commitment  ·  IP retained by IDARA  ·  Funder receives non-exclusive license  ·  Stepped-wedge or matched-controls evaluation design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EVALUATION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6400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68880" y="11247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Adaptation &amp;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417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adaptation, server setup, ethics submission, baseline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645920" cy="6400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6400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9476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&amp; Training Dev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clinic deployments, training course build, connectivity expansion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64592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2743200"/>
            <a:ext cx="6400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68880" y="2770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Deployment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063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delivery to 50–150 professionals, stepped-wedge rollout, midpoint 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645920" cy="6400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3566160"/>
            <a:ext cx="6400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68880" y="3593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Bridge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886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assessment, safety review, Pathway B concept development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F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A evidence → Pathway B application (USD 3M, 12–24 months) — explicitly encouraged by EVAH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14 DAYS TO DEADLINE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5603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Mahidol as lead applicant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PI at Mahidol (1 application limit)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evaluation protocol (comparison group)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budget (EVAH template, ≥80% LMIC)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CVs + draft ethics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review of complete draft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via EVAH portal (Mahidol)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 for Consortium Discussion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39776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Mahidol confirmed? What's our backup?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Stepped-wedge or matched-controls evaluation design?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focused on gastro/hepatology or broaden to general PHC?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Day 366? Quantify "minimal cost."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91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1,000,000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SPLIT (EVAH rule)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 LMIC (Thailand + Myanmar)  ~USD 800,000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199" y="1828800"/>
            <a:ext cx="1439613" cy="411480"/>
          </a:xfrm>
          <a:prstGeom prst="rect">
            <a:avLst/>
          </a:prstGeom>
          <a:solidFill>
            <a:srgbClr val="0F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≤20% EU  ~USD 200K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ALLOCATION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816352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WP1: AI Clinical Support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 ~$350K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218688" cy="38404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WP2: Telemedicine Digital.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 ~$400K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2011680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WP3: Coordination &amp; Eval.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3886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 ~$250K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LINE-ITEM BREAKDOWN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3657600" cy="2788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IDARA salaries (AI team)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 partners (eval.)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Cloud, servers,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course (dev + delivery)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 &amp; connectivity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Digitization &amp; workflow dev.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Medications &amp; consumables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outreach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staff, travel, logistics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 + insurance + indirect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WP2/3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4319217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4319217"/>
            <a:ext cx="64008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433750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Flow Governance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5800" y="4611825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EVAH → Mahidol University (lead, manages ≥80% LMIC funds) → subcontracts to Telekyanmar (Myanmar operations)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partners receive directly from Mahidol:  IDARA Spain ~$150K  |  Goethe Univ. Germany ~$50K  |  Indirect costs capped at ≤20% of direct (Wellcome/Gates standard)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1051</Words>
  <Application>Microsoft Macintosh PowerPoint</Application>
  <PresentationFormat>On-screen Show (16:9)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EVAH Pathway A — Consortium Strategy</dc:title>
  <dc:subject>PptxGenJS Presentation</dc:subject>
  <dc:creator>EVAH Consortium</dc:creator>
  <cp:lastModifiedBy>Ernest Saenz</cp:lastModifiedBy>
  <cp:revision>2</cp:revision>
  <dcterms:created xsi:type="dcterms:W3CDTF">2026-03-18T22:14:14Z</dcterms:created>
  <dcterms:modified xsi:type="dcterms:W3CDTF">2026-03-18T22:18:25Z</dcterms:modified>
</cp:coreProperties>
</file>